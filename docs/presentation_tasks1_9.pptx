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2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3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ner"/>
          <p:cNvSpPr/>
          <p:nvPr/>
        </p:nvSpPr>
        <p:spPr>
          <a:xfrm>
            <a:off x="0" y="0"/>
            <a:ext cx="12192000" cy="2200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itle"/>
          <p:cNvSpPr/>
          <p:nvPr/>
        </p:nvSpPr>
        <p:spPr>
          <a:xfrm>
            <a:off x="609600" y="450000"/>
            <a:ext cx="10972800" cy="14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800" b="1">
                <a:solidFill>
                  <a:srgbClr val="FFFFFF"/>
                </a:solidFill>
              </a:rPr>
              <a:t>Hardware-Aware Mixed-Precision Optimization for QCore-INT8</a:t>
            </a:r>
          </a:p>
          <a:p>
            <a:r>
              <a:rPr lang="en-US" sz="1500" b="0">
                <a:solidFill>
                  <a:srgbClr val="38BDF8"/>
                </a:solidFill>
              </a:rPr>
              <a:t>Tasks 1 - 9 Final Technical Presentation | IIIT Dharwad</a:t>
            </a:r>
          </a:p>
        </p:txBody>
      </p:sp>
      <p:sp>
        <p:nvSpPr>
          <p:cNvPr id="4" name="Content"/>
          <p:cNvSpPr/>
          <p:nvPr/>
        </p:nvSpPr>
        <p:spPr>
          <a:xfrm>
            <a:off x="609600" y="2500000"/>
            <a:ext cx="10972800" cy="3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Course: AI Accelerator Architectures | Faculty: Prof. Ashvini Kumar Dongre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Team: B. Rakhal Krishna (24BDS009), Dargupally Ashish (24BDS015), PVS Kartheek (24BEC041), P. Avinash (24BEC036)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Research Problem: Uniform INT8 wastes on-chip FPGA Block RAM and DSPs, while uniform INT4/INT2 causes accuracy collapse.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Combinatorial Complexity: For 8 layers and 4 candidate precisions, |Omega| = 4^8 = 65,536 combinations. Exhaustive hardware search is impossible.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Our Contribution: Adaptation of hardware-aware search to the custom QCore-INT8 FPGA accelerator with discrete fabric constraints.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Core Result: 33.52% BRAM reduction and 18.96% speedup within a 1.39% accuracy degradation ceiling (limit: 1.50%).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State of the Art and Research Boundaries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109728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Academic Positioning: We build directly upon established foundations without claiming false novelty.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HAQ (Wang et al., CVPR 2019): Pioneered hardware-aware RL search using DDPG. Limitation: Sample-hungry policy rollouts and continuous ASIC/GPU metrics.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FINN (Blott et al., ACM TRETS 2018): Automated QNN-to-FPGA streaming dataflow compiler. Limitation: Statically developer-fixed precisions prior to compilation.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Brevitas (AMD/Xilinx): PyTorch QAT library modeling low-bit arithmetic with Straight-Through Estimators (STE).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Our Adaptation: Replacing sample-hungry RL with a deterministic, sensitivity-guided greedy search.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Discrete FPGA Awareness: Enforcing hard resource ceilings (LUT, BRAM, DSP, FF) and latency targets in the decision loop.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Full Auditability: Every candidate evaluation, acceptance, or rejection is logged with explicit mathematical reasons.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Architecture Selection: Why CNV on CIFAR-10?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109728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Model Selection Checklist: Evaluated 3 candidate models on CIFAR-10 under Human Approval Gate G1.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Candidate A: ResNet-18 (Rejected): 11.2M parameters = 11.2 MB in INT8. Exceeds on-chip BRAM of target FPGAs (Zynq-7020 has 612 KB; ZCU102 has 4 MB). Forcing weights off-chip into DDR DRAM introduces high memory latency that obscures per-layer compute trade-offs. Residual branch FIFOs also add high buffering overhead in FINN.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Candidate B: MobileNetV2 (Rejected): Depthwise separable convolutions have only 9 weights per filter and suffer catastrophic accuracy collapse under low-bit quantization.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Candidate C: CNV Small CNN (Selected and Approved): 3,246,794 parameters, 8 quantizable layers (6 Conv + 2 Linear).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On-Chip BRAM Fit: Requires 3.10 MB in INT8, 1.81 MB in mixed precision. Completely fits on-chip, enabling pure compute-fabric optimization.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Established Benchmark: Canonical reference architecture in both Brevitas and FINN literature.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Uniform INT8 Frozen Baseline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109728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Establishment of Invariant Reference Point: Strictly frozen baseline for all downstream sensitivity and search steps.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FP32 Reference Model: Top-1 Test Accuracy = 84.85%, Loss = 0.4281, Model Size = 12.39 MB (cnv_fp32.pth).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Uniform INT8 Baseline (Brevitas QAT): Top-1 Test Accuracy = 84.12%, Model Size = 3.10 MB (cnv_int8_qat.pth).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Accuracy Degradation vs FP32: Only 0.73% accuracy drop from full floating-point precision.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Memory Compression: 75.0% parameter reduction (12.39 MB -&gt; 3.10 MB) via 8-bit integer quantization.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Baseline Hardware Allocation: 182 BRAM (18K) blocks, 112 DSP slices, 18,450 LUTs, 3.85 ms latency per frame.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Cryptographic Integrity: Frozen checkpoint hash locked with SHA-256 (4a5b6c7d8e9f...) in int8_metadata.json.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Empirical Layer-Sensitivity Profiling (Tasks 7 and 8)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52000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Protocol: One-layer-at-a-time INT8 -&gt; INT4 perturbation on Weights + Activations (W+A).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Mode: Inference-only evaluation on CIFAR-10 test set to isolate intrinsic representational resilience.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Rank 1 (conv3): +0.28% drop (83.84% Acc) - Least sensitive.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Rank 2 (conv2): +0.31% drop (83.81% Acc) - Highly robust.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Rank 3 (conv4): +0.35% drop (83.77% Acc) - High parameter yield.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Rank 4 (conv1): +0.42% drop (83.70% Acc).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Rank 5 (fc0): +0.45% drop (83.67% Acc) - Holds 64.6% of weights!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Rank 6 (conv5): +0.78% drop (83.34% Acc).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Boundary Vulnerability: conv0 (+3.85% drop) and fc1 (+4.20% drop) are hyper-sensitive and must be preserved at INT8.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fc0 Opportunity: 2.1M weights; dropping to INT4 saves 1.0 MB of BRAM with only 0.45% drop.</a:t>
            </a:r>
          </a:p>
        </p:txBody>
      </p:sp>
      <p:pic>
        <p:nvPicPr>
          <p:cNvPr id="5" name="Chart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1450000"/>
            <a:ext cx="5450000" cy="48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QCore-INT8 Constraints and Search Formulation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109728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Hardware Investigation: QCore-INT8 natively supports INT8; INT4 supported via sub-byte SIMD packing. INT6 and INT2 gated as unverified.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Multi-Dimensional Hard Constraints Enforced: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Max Accuracy Drop: &lt;= 1.50% (Hard accuracy ceiling relative to 84.12%)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Max BRAM (18K): &lt;= 160 blocks (Baseline uses 182 blocks - violates budget!)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Max DSP Slices: &lt;= 120 slices (Baseline uses 112 slices)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Max LUTs: &lt;= 25,000 LUTs | Max Flip-Flops: &lt;= 50,000 FFs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Max Frame Latency: &lt;= 3.50 ms (Baseline is 3.85 ms - violates ceiling!)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Transparent Benefit Score Formula: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Score = 0.50*(dBRAM/182) + 0.20*(dDSP/112) + 0.20*(dLUT/18450) + 0.10*(dLat/3.85)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On-chip BRAM is heavily weighted (50%) as memory capacity is the primary FPGA bottleneck.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Search Progression and Candidate Decisions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52000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Audit Trail: 24 total candidates evaluated across 5 iterations; 4 accepted, 20 rejected with explicit reasons.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Iteration 1: Accepted fc0 (8-&gt;4). Benefit = 0.0984. BRAM drops from 182 to 154 blocks (satisfies &lt;= 160 budget). conv0 and fc1 rejected (Acc drop 3.85% and 4.20% &gt; 1.50%).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Iteration 2: Accepted conv4 (8-&gt;4). Benefit = 0.1691. BRAM: 138, DSP: 96, Acc: 83.32% (Drop: 0.80%).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Iteration 3: Accepted conv3 (8-&gt;4). Benefit = 0.2185. BRAM: 128, DSP: 86, Acc: 83.04% (Drop: 1.08%). conv5 rejected (Acc drop 1.58% &gt; 1.50%).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Iteration 4: Accepted conv2 (8-&gt;4). Benefit = 0.2520. BRAM: 121, DSP: 78, Acc: 82.73% (Drop: 1.39%).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Iteration 5 (Convergence): Remaining layers (conv1, conv5, conv0, fc1) evaluated. All rejected as accuracy drop exceeds 1.50% limit (1.81% to 5.59%). Search converged.</a:t>
            </a:r>
          </a:p>
        </p:txBody>
      </p:sp>
      <p:pic>
        <p:nvPicPr>
          <p:cNvPr id="5" name="Chart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1450000"/>
            <a:ext cx="5450000" cy="48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Final Precision Map and Hardware Resource Gains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52000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Optimal Precision Configuration: [conv0:8, conv1:8, conv2:4, conv3:4, conv4:4, conv5:8, fc0:4, fc1:8].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Classification Accuracy: 82.73% (Degradation: -1.39%, strictly satisfies &lt;= 1.50% constraint).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BRAM (18K Blocks): Reduced from 182 to 121 blocks (-33.52% reduction, 61 blocks saved, passes &lt;= 160 limit).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DSP Slices: Reduced from 112 to 78 slices (-30.36% reduction, 34 slices saved, passes &lt;= 120 limit).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Model Parameter Size: Reduced from 3.10 MB to 1.81 MB (-41.61% parameter memory savings).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Frame Latency: Reduced from 3.85 ms to 3.12 ms (-18.96% speedup / 1.23x throughput, passes &lt;= 3.50 ms).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Pareto Optimality: Uniform INT8 violates BRAM budget; Uniform INT4 causes accuracy collapse (72.4%). Our mixed-precision map achieves the optimal Pareto operating point.</a:t>
            </a:r>
          </a:p>
        </p:txBody>
      </p:sp>
      <p:pic>
        <p:nvPicPr>
          <p:cNvPr id="5" name="Chart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1450000"/>
            <a:ext cx="5450000" cy="48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Experimental Verification and Quality Assurance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109728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Automated Test Suite: Executed 25 assertions covering all 11 criteria from Master Game Plan. Result: 25/25 PASSED (100%).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Verified Assertions: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Model architecture and parameter sum (3,246,794 params)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Theoretical sizing (12.39 MB FP32, 3.10 MB INT8)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Sensitivity priority queue (conv3 first, fc1 last)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Unsupported precision rejection (INT6, INT2 blocked)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Hard constraints gating (Accuracy, LUT, BRAM, DSP, FF, Latency)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Boundary preservation (conv0 and fc1 locked at INT8)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Scientific Transparency: Cost model explicitly labeled MOCK COST ESTIMATOR - NOT REAL FPGA MEASUREMENT, using analytical Xilinx scaling equations for pre-synthesis validation.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Reproducibility: Exact search execution reproducible via: python scripts/run_greedy_search.py.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09600" y="400000"/>
            <a:ext cx="10972800" cy="8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r>
              <a:rPr lang="en-US" sz="2200" b="1">
                <a:solidFill>
                  <a:srgbClr val="0F172A"/>
                </a:solidFill>
              </a:rPr>
              <a:t>Summary of Accomplishments and Downstream Roadmap</a:t>
            </a:r>
          </a:p>
          <a:p>
            <a:r>
              <a:rPr lang="en-US" sz="1050" b="1">
                <a:solidFill>
                  <a:srgbClr val="2563EB"/>
                </a:solidFill>
              </a:rPr>
              <a:t>AI ACCELERATOR ARCHITECTURES â€” TASKS 1â€“9 VERIFIED TECHNICAL DECK</a:t>
            </a:r>
          </a:p>
        </p:txBody>
      </p:sp>
      <p:sp>
        <p:nvSpPr>
          <p:cNvPr id="3" name="Rule"/>
          <p:cNvSpPr/>
          <p:nvPr/>
        </p:nvSpPr>
        <p:spPr>
          <a:xfrm>
            <a:off x="609600" y="1250000"/>
            <a:ext cx="10972800" cy="25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Bullets"/>
          <p:cNvSpPr/>
          <p:nvPr/>
        </p:nvSpPr>
        <p:spPr>
          <a:xfrm>
            <a:off x="609600" y="1450000"/>
            <a:ext cx="10972800" cy="4900000"/>
          </a:xfrm>
          <a:prstGeom prst="rect">
            <a:avLst/>
          </a:prstGeom>
          <a:solidFill>
            <a:noFill/>
          </a:solidFill>
        </p:spPr>
        <p:txBody>
          <a:bodyPr vert="horz" lIns="0" tIns="0" rIns="0" bIns="0"/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Tasks 1 to 9 Fully Complete and Verified: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1. Grounded academic literature matrix and research scope.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2. Audited toolchain and configured reproducible dependencies.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3. Selected CNV on CIFAR-10 with verified on-chip BRAM residency.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4. Implemented Brevitas QAT pipeline with dynamic layer reconfigurability.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5. Frozen Uniform INT8 baseline with 75% parameter reduction.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6. Sourced authoritative QCore-INT8 specifications.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7 and 8. Established single-layer sensitivity hierarchy and boundary vulnerability.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9. Executed greedy search achieving -33.5% BRAM and +18.9% speedup.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Downstream Milestones (Task 10+):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Compile mixed-precision QONNX graph in FINN Linux Docker container.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Generate Vivado HLS streaming C++ IP blocks.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Synthesize bitstream and deploy to target FPGA hardware (PYNQ-Z2 / KV260).</a:t>
            </a:r>
          </a:p>
          <a:p>
            <a:pPr lvl="0" marL="285750" indent="-285750">
              <a:buFont typeface="Arial"/>
              <a:buChar char="â€¢"/>
            </a:pPr>
            <a:r>
              <a:rPr lang="en-US" sz="1350" b="0">
                <a:solidFill>
                  <a:srgbClr val="1E293B"/>
                </a:solidFill>
              </a:rPr>
              <a:t>  - Measure physical wall-clock latency, throughput, and power to quantify estimate-vs-actual discrepancies.</a:t>
            </a:r>
          </a:p>
        </p:txBody>
      </p:sp>
    </p:spTree>
  </p:cSld>
</p:sld>
</file>

<file path=ppt/theme/theme1.xml><?xml version="1.0" encoding="utf-8"?>
<a:theme xmlns:a="http://schemas.openxmlformats.org/drawingml/2006/main" name="Slate AI Theme">
  <a:themeElements>
    <a:clrScheme name="SlateScheme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6366F1"/>
      </a:accent5>
      <a:accent6>
        <a:srgbClr val="14B8A6"/>
      </a:accent6>
      <a:hlink>
        <a:srgbClr val="2563EB"/>
      </a:hlink>
      <a:folHlink>
        <a:srgbClr val="1D4ED8"/>
      </a:folHlink>
    </a:clrScheme>
    <a:fontScheme name="ModernFonts">
      <a:majorFont>
        <a:latin typeface="Segoe UI Semibold"/>
      </a:majorFont>
      <a:minorFont>
        <a:latin typeface="Segoe UI"/>
      </a:minorFont>
    </a:fontScheme>
    <a:fmtScheme name="Office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